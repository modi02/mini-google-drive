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27432" cy="5143500"/>
          </a:xfrm>
          <a:prstGeom prst="rect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3252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14300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2520" y="201168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520" y="288036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374904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822960"/>
            <a:ext cx="1371600" cy="137160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3716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☁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320040" y="2423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Google Drive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32004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 Storage System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20040" y="3611880"/>
            <a:ext cx="1170432" cy="25603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61188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00200" y="3611880"/>
            <a:ext cx="11704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361188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880360" y="3611880"/>
            <a:ext cx="1170432" cy="256032"/>
          </a:xfrm>
          <a:prstGeom prst="rect">
            <a:avLst/>
          </a:prstGeom>
          <a:solidFill>
            <a:srgbClr val="1C6B3A"/>
          </a:solidFill>
          <a:ln w="12700">
            <a:solidFill>
              <a:srgbClr val="1C6B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0360" y="361188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1508760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1444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system where files are stored across multiple Docker containers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2075688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replication — every file lives on 2 nodes for fault tolerance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0" y="2642616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 to deterministically route files to nodes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0" y="3209544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145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showing real-time node health and file metadata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0" y="3776472"/>
            <a:ext cx="109728" cy="10972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712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how Amazon S3, HDFS, and Dropbox work internally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Distributed System?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6459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Machines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computers working together, appearing as one unified system to the 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023360" cy="16459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02336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325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machine handles part of the workload — no single server does everything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023360" cy="16459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402336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machine fails, others pick up the work — the system keeps running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023360" cy="16459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43200"/>
            <a:ext cx="402336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7784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Communication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coordinate over a network, passing messages and data between them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F102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 Google Search (thousands of servers), Netflix (video across CDN nodes), WhatsApp (distributed message queues)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83280" y="777240"/>
            <a:ext cx="2377440" cy="685800"/>
          </a:xfrm>
          <a:prstGeom prst="rect">
            <a:avLst/>
          </a:prstGeom>
          <a:solidFill>
            <a:srgbClr val="0F1020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777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Postman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0" cy="45720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HTTP :8080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965960"/>
            <a:ext cx="4023360" cy="1234440"/>
          </a:xfrm>
          <a:prstGeom prst="rect">
            <a:avLst/>
          </a:prstGeom>
          <a:solidFill>
            <a:srgbClr val="0F102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965960"/>
            <a:ext cx="40233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29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MASTER SERVER  :8080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359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Consistent Hash Ring · File Metadata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0" y="26151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Node Health Checks (every 10s) · Live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3200400"/>
            <a:ext cx="-1280160" cy="64008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943600" y="3200400"/>
            <a:ext cx="1280160" cy="64008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" y="3840480"/>
            <a:ext cx="3200400" cy="1005840"/>
          </a:xfrm>
          <a:prstGeom prst="rect">
            <a:avLst/>
          </a:prstGeom>
          <a:solidFill>
            <a:srgbClr val="0F102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40480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044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 Node 1  :8081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206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172.20.0.3 · /app/storage-data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4348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files independently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0" y="3840480"/>
            <a:ext cx="3200400" cy="1005840"/>
          </a:xfrm>
          <a:prstGeom prst="rect">
            <a:avLst/>
          </a:prstGeom>
          <a:solidFill>
            <a:srgbClr val="0F102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3840480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9044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 Node 2  :8082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4206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172.20.0.4 · /app/storage-data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44348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replica — fully isolated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0" y="3310128"/>
            <a:ext cx="2194560" cy="457200"/>
          </a:xfrm>
          <a:prstGeom prst="rect">
            <a:avLst/>
          </a:prstGeom>
          <a:solidFill>
            <a:srgbClr val="0F102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31012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1: Client never talks directly to storage nodes — only through Master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2: Every file is stored on exactly 2 nodes (replication factor = 2)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3: If one node dies, the other serves the file — client sees no error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Containers?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1480"/>
          </a:xfrm>
          <a:prstGeom prst="rect">
            <a:avLst/>
          </a:prstGeom>
          <a:solidFill>
            <a:srgbClr val="2D1B1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Docker (Multiple Ports)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160520" cy="411480"/>
          </a:xfrm>
          <a:prstGeom prst="rect">
            <a:avLst/>
          </a:prstGeom>
          <a:solidFill>
            <a:srgbClr val="1B2D1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777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Docker Containers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same filesystem on laptop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has isolated filesystem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4160520" cy="475488"/>
          </a:xfrm>
          <a:prstGeom prst="rect">
            <a:avLst/>
          </a:prstGeom>
          <a:solidFill>
            <a:srgbClr val="16172B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64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same OS and memory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664208"/>
            <a:ext cx="4160520" cy="475488"/>
          </a:xfrm>
          <a:prstGeom prst="rect">
            <a:avLst/>
          </a:prstGeom>
          <a:solidFill>
            <a:srgbClr val="16172B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64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container is resource-isolated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39696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96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127.0.0.1 — same 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39696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396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IP: 172.20.0.2, .3, .4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4160520" cy="475488"/>
          </a:xfrm>
          <a:prstGeom prst="rect">
            <a:avLst/>
          </a:prstGeom>
          <a:solidFill>
            <a:srgbClr val="16172B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1518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distributed system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615184"/>
            <a:ext cx="4160520" cy="475488"/>
          </a:xfrm>
          <a:prstGeom prst="rect">
            <a:avLst/>
          </a:prstGeom>
          <a:solidFill>
            <a:srgbClr val="16172B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1518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simulates separate machines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906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NOT impressed 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4160520" cy="475488"/>
          </a:xfrm>
          <a:prstGeom prst="rect">
            <a:avLst/>
          </a:prstGeom>
          <a:solidFill>
            <a:srgbClr val="0F1020"/>
          </a:solidFill>
          <a:ln w="6350">
            <a:solidFill>
              <a:srgbClr val="1F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906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IS impressed 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0F102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Bridge Network — 172.20.0.0/24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041648"/>
            <a:ext cx="2560320" cy="685800"/>
          </a:xfrm>
          <a:prstGeom prst="rect">
            <a:avLst/>
          </a:prstGeom>
          <a:solidFill>
            <a:srgbClr val="16172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master-server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172.20.0.2  :8080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71800" y="4389120"/>
            <a:ext cx="320040" cy="0"/>
          </a:xfrm>
          <a:prstGeom prst="line">
            <a:avLst/>
          </a:prstGeom>
          <a:noFill/>
          <a:ln w="12700">
            <a:solidFill>
              <a:srgbClr val="1F204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291840" y="4041648"/>
            <a:ext cx="2560320" cy="685800"/>
          </a:xfrm>
          <a:prstGeom prst="rect">
            <a:avLst/>
          </a:prstGeom>
          <a:solidFill>
            <a:srgbClr val="16172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storage-node-1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172.20.0.3  :8081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52160" y="4389120"/>
            <a:ext cx="320040" cy="0"/>
          </a:xfrm>
          <a:prstGeom prst="line">
            <a:avLst/>
          </a:prstGeom>
          <a:noFill/>
          <a:ln w="12700">
            <a:solidFill>
              <a:srgbClr val="1F204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172200" y="4041648"/>
            <a:ext cx="2560320" cy="685800"/>
          </a:xfrm>
          <a:prstGeom prst="rect">
            <a:avLst/>
          </a:prstGeom>
          <a:solidFill>
            <a:srgbClr val="16172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storage-node-2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172.20.0.4  :8081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18288" cy="5143500"/>
          </a:xfrm>
          <a:prstGeom prst="rect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28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1005840" cy="256032"/>
          </a:xfrm>
          <a:prstGeom prst="rect">
            <a:avLst>
              <a:gd name="adj" fmla="val 14286"/>
            </a:avLst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572768"/>
            <a:ext cx="128016" cy="128016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17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filename always maps to the same 2 nodes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231136"/>
            <a:ext cx="128016" cy="128016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nodes: each physical node gets 150 ring positions for even distribution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889504"/>
            <a:ext cx="128016" cy="128016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 adding a new node only moves a fraction of files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547872"/>
            <a:ext cx="128016" cy="128016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Amazon DynamoDB, Apache Cassandra, and Akamai CDN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502920"/>
            <a:ext cx="3474720" cy="3474720"/>
          </a:xfrm>
          <a:prstGeom prst="ellipse">
            <a:avLst/>
          </a:prstGeom>
          <a:solidFill>
            <a:srgbClr val="0F1020"/>
          </a:solidFill>
          <a:ln w="25400">
            <a:solidFill>
              <a:srgbClr val="1F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051560"/>
            <a:ext cx="2377440" cy="2377440"/>
          </a:xfrm>
          <a:prstGeom prst="ellipse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645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2³²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57200"/>
            <a:ext cx="164592" cy="16459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640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164592" cy="16459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926080" y="2926080"/>
            <a:ext cx="164592" cy="16459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vnode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26080" y="1371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vnode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52160" y="2103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report.pdf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here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53328" y="2203704"/>
            <a:ext cx="-1828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200400" y="4160520"/>
            <a:ext cx="5577840" cy="82296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4160520"/>
            <a:ext cx="557784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2519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hash("report.pdf") → position on ring → walk clockwise → first 2 distinct nodes = replica nodes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572768" cy="34747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1572768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914400"/>
            <a:ext cx="384048" cy="384048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898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" y="19659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13898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POST /files/upload with the file to Master :8080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01368" y="2578608"/>
            <a:ext cx="182880" cy="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783080" y="2487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EF7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84248" y="822960"/>
            <a:ext cx="1572768" cy="34747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84248" y="822960"/>
            <a:ext cx="1572768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9144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41448" y="13898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48256" y="19659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Select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75688" y="2331720"/>
            <a:ext cx="13898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runs hash("filename") on the ring → picks 2 alive nodes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7016" y="2578608"/>
            <a:ext cx="182880" cy="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538728" y="2487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EF7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9896" y="822960"/>
            <a:ext cx="1572768" cy="34747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9896" y="822960"/>
            <a:ext cx="1572768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4256" y="914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4256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97096" y="13898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03904" y="19659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31336" y="2331720"/>
            <a:ext cx="13898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forwards file bytes to both Node-1 and Node-2 via HTTP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12664" y="2578608"/>
            <a:ext cx="182880" cy="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294376" y="2487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EF7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95544" y="822960"/>
            <a:ext cx="1572768" cy="34747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95544" y="822960"/>
            <a:ext cx="1572768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9904" y="9144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904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52744" y="13898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559552" y="19659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Metadata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86984" y="2331720"/>
            <a:ext cx="13898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stores: {"report.pdf" → ["node-1","node-2"]} in memory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68312" y="2578608"/>
            <a:ext cx="182880" cy="0"/>
          </a:xfrm>
          <a:prstGeom prst="line">
            <a:avLst/>
          </a:prstGeom>
          <a:noFill/>
          <a:ln w="19050">
            <a:solidFill>
              <a:srgbClr val="4F6EF7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050024" y="2487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EF7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51192" y="822960"/>
            <a:ext cx="1572768" cy="34747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51192" y="822960"/>
            <a:ext cx="1572768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45552" y="91440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08392" y="13898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315200" y="196596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42632" y="2331720"/>
            <a:ext cx="13898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receives: {filename, size, replicatedTo: ["node-1","node-2"]}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0F102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4805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Client never knows which nodes store its file. The master handles all routing transparently.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0" y="228600"/>
            <a:ext cx="100584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28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Demo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114800" cy="196596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77240"/>
            <a:ext cx="41148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Normal Download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→ GET /files/download/report.pdf → Master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Master looks up metadata: replicas = [node-1, node-2]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Checks node-1: isAlive = true → fetch from node-1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node-1 returns file bytes → Master → Client 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97680" cy="196596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777240"/>
            <a:ext cx="429768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777240"/>
            <a:ext cx="42976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41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Node-1 Goes Down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1887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→ GET /files/download/report.pdf → Master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Master looks up metadata: replicas = [node-1, node-2]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Checks node-1: isAlive = FALSE → SKIP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Checks node-2: isAlive = true → fetch from node-2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2860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Client gets the file — no error seen! Transparent failover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8641080" cy="96012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07792"/>
            <a:ext cx="864108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How the Master Detects Failures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seconds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23744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23744" y="3474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on each node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81728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81728" y="3474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{status:"UP", nodeId, fileCount}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39712" y="3291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39712" y="3474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isAlive = false — skipped in routing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977640"/>
            <a:ext cx="8641080" cy="91440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Demo 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2336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Show dashboard — both nodes green     2. Upload any file — show replicatedTo: [node-1, node-2]     3. docker stop storage-node-1     4. Watch node turn RED on dashboard (10s)     5. Download same file — still works from node-2     6. docker start storage-node-1 — node turns green again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18288" cy="5143500"/>
          </a:xfrm>
          <a:prstGeom prst="rect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28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100584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Must-Know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15087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distributed system can only guarantee 2 of these 3 properties at the same time"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24688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is AP: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+ Partition Tolerance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serve files from healthy replicas even when a node is partitioned — we do not block waiting for consistency.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2097" y="3611880"/>
            <a:ext cx="3023006" cy="0"/>
          </a:xfrm>
          <a:prstGeom prst="line">
            <a:avLst/>
          </a:prstGeom>
          <a:noFill/>
          <a:ln w="25400">
            <a:solidFill>
              <a:srgbClr val="1F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005840"/>
            <a:ext cx="1511503" cy="2606040"/>
          </a:xfrm>
          <a:prstGeom prst="line">
            <a:avLst/>
          </a:prstGeom>
          <a:noFill/>
          <a:ln w="25400">
            <a:solidFill>
              <a:srgbClr val="1F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2097" y="3611880"/>
            <a:ext cx="1511503" cy="-2606040"/>
          </a:xfrm>
          <a:prstGeom prst="line">
            <a:avLst/>
          </a:prstGeom>
          <a:noFill/>
          <a:ln w="25400">
            <a:solidFill>
              <a:srgbClr val="1F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731520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same 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7943" y="36576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7903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7903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responds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6297" y="36576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6257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6257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despite splits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32120" y="2423160"/>
            <a:ext cx="822960" cy="82296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108960" y="4663440"/>
            <a:ext cx="1325880" cy="34747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4663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4663440"/>
            <a:ext cx="502920" cy="34747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663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4663440"/>
            <a:ext cx="1325880" cy="34747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663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0680" y="4663440"/>
            <a:ext cx="502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4663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4663440"/>
            <a:ext cx="1325880" cy="34747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663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4663440"/>
            <a:ext cx="502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663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35240" y="4663440"/>
            <a:ext cx="1325880" cy="34747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4663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58200" y="4663440"/>
            <a:ext cx="502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4663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3327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33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69848" y="96926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96926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33272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162763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sealed classes, text blocks. Runs inside each Docker container.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0467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03327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033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014216" y="969264"/>
            <a:ext cx="65836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96926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7764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82696" y="162763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Auto-config, embedded Tomcat, @Scheduled for health checks, RestTemplate for inter-node HTTP.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7336" y="272491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272491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953512"/>
            <a:ext cx="594360" cy="59436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958584" y="2889504"/>
            <a:ext cx="658368" cy="21945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28895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22008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27064" y="35478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isolated containers on a private bridge network. Each has its own IP and filesystem.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72491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72491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95351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069848" y="2889504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28895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33272" y="31455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" y="35478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ring with 150 virtual nodes per physical node. Same algorithm as DynamoDB.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72968" y="464515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464515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0128" y="4873752"/>
            <a:ext cx="594360" cy="594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4873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4014216" y="4809744"/>
            <a:ext cx="65836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14216" y="48097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977640" y="5065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82696" y="546811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each Spring Boot project into a fat JAR. docker-compose builds from these JARs.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17336" y="4645152"/>
            <a:ext cx="2743200" cy="16916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7336" y="4645152"/>
            <a:ext cx="27432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54496" y="487375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4873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6958584" y="480974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58584" y="48097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22008" y="5065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HTML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27064" y="546811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React, no framework — pure HTML/CSS/JS served as static files from the master JAR.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181051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6052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932688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932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932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Metadata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Master stores filename→nodes in a HashMap. Restarting the master loses all file location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1856232"/>
            <a:ext cx="457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856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50392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metadata to a database (PostgreSQL, Redis, or Zookeeper).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160520" cy="181051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804672"/>
            <a:ext cx="416052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932688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32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932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is Single Point of Failure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2801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If the master goes down, no uploads or downloads work at all.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856232"/>
            <a:ext cx="457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56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312664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replication with leader election using Raft or Zookeeper.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98064"/>
            <a:ext cx="4160520" cy="181051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798064"/>
            <a:ext cx="416052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292608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" y="2926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Chunking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2735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Large files are stored whole. Real HDFS splits files into 128MB blocks.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" y="3849624"/>
            <a:ext cx="457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8496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0392" y="38221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files into blocks at upload, store blocks independently, reassemble on download.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90872" y="2798064"/>
            <a:ext cx="4160520" cy="1810512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90872" y="2798064"/>
            <a:ext cx="416052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926080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2926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32735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Anyone who can reach port 8080 can upload, download, or delete any file.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849624"/>
            <a:ext cx="457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496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12664" y="38221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auth, user sessions, per-file access control lists.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Mentioning these limitations proactively in your viva shows maturity — you understand the tradeoffs, not just the happy path.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Viva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containers instead of ports?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Ports share the same OS filesystem — nodes could access each other's files. Containers are fully isolated with separate IPs and storage.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0872" y="777240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777240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8686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consistent hashing?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65192" y="12161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hash ring where filenames map to fixed positions. Same file always routes to same nodes. Adding nodes only moves a fraction of 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67128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67128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58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are virtual nodes?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Each physical node occupies 150 positions on the ring. Prevents one node handling 70% of files when there are only 2-3 nodes.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90872" y="2167128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167128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258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CAP theorem apply?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5192" y="260604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Our system is AP — we prefer availability over strict consistency. Healthy replicas serve requests even when one node is partitioned.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557016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57016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484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metadata store?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9959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ConcurrentHashMap in the master: filename → [node-1, node-2]. It's in-memory, which means restarting the master loses all file locations.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3557016"/>
            <a:ext cx="4160520" cy="1234440"/>
          </a:xfrm>
          <a:prstGeom prst="rect">
            <a:avLst/>
          </a:prstGeom>
          <a:solidFill>
            <a:srgbClr val="16172B"/>
          </a:solidFill>
          <a:ln w="12700">
            <a:solidFill>
              <a:srgbClr val="1F204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557016"/>
            <a:ext cx="201168" cy="12344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6484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failover work?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65192" y="39959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Master pings /health every 10s. If a node doesn't respond, isAlive=false. Download tries replicas in order, skipping dead nodes — client sees no error.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F"/>
          </a:solidFill>
          <a:ln w="12700">
            <a:solidFill>
              <a:srgbClr val="08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6624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6432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048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05856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5472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088" y="274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7008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06624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05088" y="960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7008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56816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06624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6048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5856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5664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5472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5280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05088" y="16459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07008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56816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06624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6432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56048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55664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05472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5088" y="23317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07008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56816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06624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56432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0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56048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05856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55664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05472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05088" y="30175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07008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56816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06624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56048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05856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05472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55280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05088" y="37033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207008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56816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06624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06240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56048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05856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455664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05472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55280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05088" y="4389120"/>
            <a:ext cx="54864" cy="54864"/>
          </a:xfrm>
          <a:prstGeom prst="ellipse">
            <a:avLst/>
          </a:prstGeom>
          <a:solidFill>
            <a:srgbClr val="1F2040"/>
          </a:solidFill>
          <a:ln w="12700">
            <a:solidFill>
              <a:srgbClr val="1F20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49040" y="1005840"/>
            <a:ext cx="1645920" cy="164592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3749040" y="10058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☁</a:t>
            </a:r>
            <a:endParaRPr lang="en-US" sz="5600" dirty="0"/>
          </a:p>
        </p:txBody>
      </p:sp>
      <p:sp>
        <p:nvSpPr>
          <p:cNvPr id="91" name="Text 89"/>
          <p:cNvSpPr/>
          <p:nvPr/>
        </p:nvSpPr>
        <p:spPr>
          <a:xfrm>
            <a:off x="914400" y="2788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92" name="Text 90"/>
          <p:cNvSpPr/>
          <p:nvPr/>
        </p:nvSpPr>
        <p:spPr>
          <a:xfrm>
            <a:off x="914400" y="3493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Google Drive — Distributed File Storage System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1348740" y="4023360"/>
            <a:ext cx="1508760" cy="292608"/>
          </a:xfrm>
          <a:prstGeom prst="rect">
            <a:avLst/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4874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994660" y="4023360"/>
            <a:ext cx="1508760" cy="29260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9466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640580" y="4023360"/>
            <a:ext cx="15087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4058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286500" y="4023360"/>
            <a:ext cx="1508760" cy="292608"/>
          </a:xfrm>
          <a:prstGeom prst="rect">
            <a:avLst/>
          </a:prstGeom>
          <a:solidFill>
            <a:srgbClr val="3B1F6E"/>
          </a:solidFill>
          <a:ln w="12700">
            <a:solidFill>
              <a:srgbClr val="3B1F6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8650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Google Drive</dc:title>
  <dc:subject>PptxGenJS Presentation</dc:subject>
  <dc:creator>PptxGenJS</dc:creator>
  <cp:lastModifiedBy>PptxGenJS</cp:lastModifiedBy>
  <cp:revision>1</cp:revision>
  <dcterms:created xsi:type="dcterms:W3CDTF">2026-04-02T10:57:31Z</dcterms:created>
  <dcterms:modified xsi:type="dcterms:W3CDTF">2026-04-02T10:57:31Z</dcterms:modified>
</cp:coreProperties>
</file>